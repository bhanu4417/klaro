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9050">
            <a:solidFill>
              <a:srgbClr val="1F4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1F4779"/>
                </a:solidFill>
                <a:latin typeface="Georgia"/>
              </a:rPr>
              <a:t>PROPOSED SOLUTION AND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00684"/>
            <a:ext cx="10820095" cy="45720"/>
          </a:xfrm>
          <a:prstGeom prst="rect">
            <a:avLst/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67435"/>
            <a:ext cx="10820095" cy="20116"/>
          </a:xfrm>
          <a:prstGeom prst="rect">
            <a:avLst/>
          </a:prstGeom>
          <a:solidFill>
            <a:srgbClr val="00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" y="6624828"/>
            <a:ext cx="11990527" cy="82296"/>
          </a:xfrm>
          <a:prstGeom prst="rect">
            <a:avLst/>
          </a:prstGeom>
          <a:solidFill>
            <a:srgbClr val="00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116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779"/>
                </a:solidFill>
                <a:latin typeface="Georgia"/>
              </a:rPr>
              <a:t>KLARO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2179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E5E66"/>
                </a:solidFill>
                <a:latin typeface="Calibri"/>
              </a:rPr>
              <a:t>Legal Metrology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10104120" y="201168"/>
            <a:ext cx="384048" cy="329184"/>
          </a:xfrm>
          <a:prstGeom prst="ellipse">
            <a:avLst/>
          </a:prstGeom>
          <a:solidFill>
            <a:srgbClr val="ED5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05288" y="201168"/>
            <a:ext cx="384048" cy="329184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46888"/>
            <a:ext cx="5852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18288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779"/>
                </a:solidFill>
                <a:latin typeface="Calibri"/>
              </a:rPr>
              <a:t>SMART INDIA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779"/>
                </a:solidFill>
                <a:latin typeface="Calibri"/>
              </a:rPr>
              <a:t>HACKATHON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56D38"/>
                </a:solidFill>
                <a:latin typeface="Calibri"/>
              </a:rPr>
              <a:t>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1152144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700784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C98A1B"/>
                </a:solidFill>
                <a:latin typeface="Calibri"/>
              </a:rPr>
              <a:t>One-Scan Verdicts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5252A"/>
                </a:solidFill>
                <a:latin typeface="Calibri"/>
              </a:rPr>
              <a:t>Every photograph is a legal audit, not a complaint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5" y="1700784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C56D38"/>
                </a:solidFill>
                <a:latin typeface="Calibri"/>
              </a:rPr>
              <a:t>Self-Binding Evidence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5252A"/>
                </a:solidFill>
                <a:latin typeface="Calibri"/>
              </a:rPr>
              <a:t>Dossiers seal themselves: OCR, values, citation, hash.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1700784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Officer-Grade 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5252A"/>
                </a:solidFill>
                <a:latin typeface="Calibri"/>
              </a:rPr>
              <a:t>Console drafts notices, not more paperwork.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71216"/>
            <a:ext cx="1664208" cy="310896"/>
          </a:xfrm>
          <a:prstGeom prst="rect">
            <a:avLst/>
          </a:prstGeom>
          <a:solidFill>
            <a:srgbClr val="F0C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2743200"/>
            <a:ext cx="1664208" cy="438912"/>
          </a:xfrm>
          <a:prstGeom prst="rect">
            <a:avLst/>
          </a:prstGeom>
          <a:solidFill>
            <a:srgbClr val="F0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2615184"/>
            <a:ext cx="1664208" cy="566928"/>
          </a:xfrm>
          <a:prstGeom prst="rect">
            <a:avLst/>
          </a:prstGeom>
          <a:solidFill>
            <a:srgbClr val="B1E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182112"/>
            <a:ext cx="5806440" cy="16459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23697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5252A"/>
                </a:solidFill>
                <a:latin typeface="Calibri"/>
              </a:rPr>
              <a:t>Klaro Enforcement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255264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Manual filework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255264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3C9"/>
                </a:solidFill>
                <a:latin typeface="Calibri"/>
              </a:rPr>
              <a:t>Traceable outcomes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3712463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97680"/>
            <a:ext cx="2971800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79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252A"/>
                </a:solidFill>
                <a:latin typeface="Calibri"/>
              </a:rPr>
              <a:t>1. Zero-Hardware Scanning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5E66"/>
                </a:solidFill>
                <a:latin typeface="Calibri"/>
              </a:rPr>
              <a:t>any smartphone becomes an inspector-grade tool.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30168" y="4297680"/>
            <a:ext cx="2971800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79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43891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252A"/>
                </a:solidFill>
                <a:latin typeface="Calibri"/>
              </a:rPr>
              <a:t>2. Crowd-Powered Triage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5E66"/>
                </a:solidFill>
                <a:latin typeface="Calibri"/>
              </a:rPr>
              <a:t>high-signal cases rise before a file is ever opened.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58384"/>
            <a:ext cx="2971800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79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49824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252A"/>
                </a:solidFill>
                <a:latin typeface="Calibri"/>
              </a:rPr>
              <a:t>3. Receipt-Style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5E66"/>
                </a:solidFill>
                <a:latin typeface="Calibri"/>
              </a:rPr>
              <a:t>printed notices read like true statutory documents.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0168" y="5358384"/>
            <a:ext cx="2971800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79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5449824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252A"/>
                </a:solidFill>
                <a:latin typeface="Calibri"/>
              </a:rPr>
              <a:t>4. Free-Tier Native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5E66"/>
                </a:solidFill>
                <a:latin typeface="Calibri"/>
              </a:rPr>
              <a:t>open rule engine on serverless plans; funds go to scale, not licences.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1152144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Uniqueness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755648"/>
            <a:ext cx="1783080" cy="841248"/>
          </a:xfrm>
          <a:prstGeom prst="roundRect">
            <a:avLst>
              <a:gd name="adj" fmla="val 11000"/>
            </a:avLst>
          </a:prstGeom>
          <a:solidFill>
            <a:srgbClr val="5F9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Clause-Exact Verdicts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87968" y="2039112"/>
            <a:ext cx="292608" cy="274320"/>
          </a:xfrm>
          <a:prstGeom prst="rightArrow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40880" y="2743200"/>
            <a:ext cx="1783080" cy="841248"/>
          </a:xfrm>
          <a:prstGeom prst="roundRect">
            <a:avLst>
              <a:gd name="adj" fmla="val 11000"/>
            </a:avLst>
          </a:prstGeom>
          <a:solidFill>
            <a:srgbClr val="F0C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Hash-Sealed Dossiers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87968" y="3026664"/>
            <a:ext cx="292608" cy="274320"/>
          </a:xfrm>
          <a:prstGeom prst="rightArrow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40880" y="3730752"/>
            <a:ext cx="1783080" cy="841248"/>
          </a:xfrm>
          <a:prstGeom prst="roundRect">
            <a:avLst>
              <a:gd name="adj" fmla="val 11000"/>
            </a:avLst>
          </a:prstGeom>
          <a:solidFill>
            <a:srgbClr val="FA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Public Outcome Feed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887968" y="4014215"/>
            <a:ext cx="292608" cy="274320"/>
          </a:xfrm>
          <a:prstGeom prst="rightArrow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00032" y="1152144"/>
            <a:ext cx="2313432" cy="438912"/>
          </a:xfrm>
          <a:prstGeom prst="roundRect">
            <a:avLst>
              <a:gd name="adj" fmla="val 50000"/>
            </a:avLst>
          </a:prstGeom>
          <a:solidFill>
            <a:srgbClr val="ED5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Why 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00032" y="1755648"/>
            <a:ext cx="2331720" cy="4160520"/>
          </a:xfrm>
          <a:prstGeom prst="roundRect">
            <a:avLst>
              <a:gd name="adj" fmla="val 5000"/>
            </a:avLst>
          </a:prstGeom>
          <a:solidFill>
            <a:srgbClr val="F0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5252A"/>
                </a:solidFill>
                <a:latin typeface="Calibri"/>
              </a:rPr>
              <a:t>Robust Architecture: </a:t>
            </a:r>
            <a:r>
              <a:rPr sz="1000" b="0" i="0">
                <a:solidFill>
                  <a:srgbClr val="25252A"/>
                </a:solidFill>
                <a:latin typeface="Calibri"/>
              </a:rPr>
              <a:t>one rule engine, one dossier, one ledger — no stitched tools.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5252A"/>
                </a:solidFill>
                <a:latin typeface="Calibri"/>
              </a:rPr>
              <a:t>Trust by Design: </a:t>
            </a:r>
            <a:r>
              <a:rPr sz="1000" b="0" i="0">
                <a:solidFill>
                  <a:srgbClr val="25252A"/>
                </a:solidFill>
                <a:latin typeface="Calibri"/>
              </a:rPr>
              <a:t>hashes and public statuses make every case independently auditable.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25252A"/>
                </a:solidFill>
                <a:latin typeface="Calibri"/>
              </a:rPr>
              <a:t>Statutory Engine: </a:t>
            </a:r>
            <a:r>
              <a:rPr sz="1000" b="0" i="0">
                <a:solidFill>
                  <a:srgbClr val="25252A"/>
                </a:solidFill>
                <a:latin typeface="Calibri"/>
              </a:rPr>
              <a:t>LMPC 2011 encoded as code; rules update in minutes, not gazette-years.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5252A"/>
                </a:solidFill>
                <a:latin typeface="Calibri"/>
              </a:rPr>
              <a:t>Impact-First: </a:t>
            </a:r>
            <a:r>
              <a:rPr sz="1000" b="0" i="0">
                <a:solidFill>
                  <a:srgbClr val="25252A"/>
                </a:solidFill>
                <a:latin typeface="Calibri"/>
              </a:rPr>
              <a:t>faster closures, cleaner markets, zero added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9050">
            <a:solidFill>
              <a:srgbClr val="1F4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1F4779"/>
                </a:solidFill>
                <a:latin typeface="Georgia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00684"/>
            <a:ext cx="10820095" cy="45720"/>
          </a:xfrm>
          <a:prstGeom prst="rect">
            <a:avLst/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67435"/>
            <a:ext cx="10820095" cy="20116"/>
          </a:xfrm>
          <a:prstGeom prst="rect">
            <a:avLst/>
          </a:prstGeom>
          <a:solidFill>
            <a:srgbClr val="00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" y="6624828"/>
            <a:ext cx="11990527" cy="82296"/>
          </a:xfrm>
          <a:prstGeom prst="rect">
            <a:avLst/>
          </a:prstGeom>
          <a:solidFill>
            <a:srgbClr val="00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116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779"/>
                </a:solidFill>
                <a:latin typeface="Georgia"/>
              </a:rPr>
              <a:t>KLARO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2179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E5E66"/>
                </a:solidFill>
                <a:latin typeface="Calibri"/>
              </a:rPr>
              <a:t>Legal Metrology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10104120" y="201168"/>
            <a:ext cx="384048" cy="329184"/>
          </a:xfrm>
          <a:prstGeom prst="ellipse">
            <a:avLst/>
          </a:prstGeom>
          <a:solidFill>
            <a:srgbClr val="ED5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05288" y="201168"/>
            <a:ext cx="384048" cy="329184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46888"/>
            <a:ext cx="5852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18288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779"/>
                </a:solidFill>
                <a:latin typeface="Calibri"/>
              </a:rPr>
              <a:t>SMART INDIA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779"/>
                </a:solidFill>
                <a:latin typeface="Calibri"/>
              </a:rPr>
              <a:t>HACKATHON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56D38"/>
                </a:solidFill>
                <a:latin typeface="Calibri"/>
              </a:rPr>
              <a:t>2026</a:t>
            </a:r>
          </a:p>
        </p:txBody>
      </p:sp>
      <p:pic>
        <p:nvPicPr>
          <p:cNvPr id="15" name="Picture 14" descr="klaro-architecture-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98448"/>
            <a:ext cx="7635240" cy="313400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4048" y="4617720"/>
            <a:ext cx="7882127" cy="658368"/>
          </a:xfrm>
          <a:prstGeom prst="roundRect">
            <a:avLst>
              <a:gd name="adj" fmla="val 30000"/>
            </a:avLst>
          </a:prstGeom>
          <a:solidFill>
            <a:srgbClr val="F0C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779"/>
                </a:solidFill>
                <a:latin typeface="Calibri"/>
              </a:rPr>
              <a:t>EVIDENCE CHAIN   </a:t>
            </a:r>
            <a:r>
              <a:rPr sz="1150" b="0" i="0">
                <a:solidFill>
                  <a:srgbClr val="25252A"/>
                </a:solidFill>
                <a:latin typeface="Calibri"/>
              </a:rPr>
              <a:t>Label image → OCR snippet → measured vs required → citation → signature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440680"/>
            <a:ext cx="7882127" cy="749808"/>
          </a:xfrm>
          <a:prstGeom prst="roundRect">
            <a:avLst>
              <a:gd name="adj" fmla="val 12000"/>
            </a:avLst>
          </a:prstGeom>
          <a:solidFill>
            <a:srgbClr val="F0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Serving stack — </a:t>
            </a:r>
            <a:r>
              <a:rPr sz="1150" b="0" i="0">
                <a:solidFill>
                  <a:srgbClr val="25252A"/>
                </a:solidFill>
                <a:latin typeface="Calibri"/>
              </a:rPr>
              <a:t>Bun runtime · Vercel edge delivery · Clerk sessions · service-role server actions · free-tier everything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129844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Characteristics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298448"/>
            <a:ext cx="1856231" cy="457200"/>
          </a:xfrm>
          <a:prstGeom prst="roundRect">
            <a:avLst>
              <a:gd name="adj" fmla="val 50000"/>
            </a:avLst>
          </a:prstGeom>
          <a:solidFill>
            <a:srgbClr val="1F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Technologies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4192" y="1883664"/>
            <a:ext cx="1481328" cy="1060704"/>
          </a:xfrm>
          <a:prstGeom prst="roundRect">
            <a:avLst>
              <a:gd name="adj" fmla="val 10000"/>
            </a:avLst>
          </a:prstGeom>
          <a:solidFill>
            <a:srgbClr val="B1E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Scan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883664"/>
            <a:ext cx="1856231" cy="1060704"/>
          </a:xfrm>
          <a:prstGeom prst="roundRect">
            <a:avLst>
              <a:gd name="adj" fmla="val 7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Klaro Audit Engine (LMPC 2011) · OCR &amp; entity extraction · receipt-style verdicts · SHA-256 evidence hashing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3072384"/>
            <a:ext cx="1481328" cy="1060704"/>
          </a:xfrm>
          <a:prstGeom prst="roundRect">
            <a:avLst>
              <a:gd name="adj" fmla="val 10000"/>
            </a:avLst>
          </a:prstGeom>
          <a:solidFill>
            <a:srgbClr val="F0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App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UI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072384"/>
            <a:ext cx="1856231" cy="1060704"/>
          </a:xfrm>
          <a:prstGeom prst="roundRect">
            <a:avLst>
              <a:gd name="adj" fmla="val 7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Next.js 16 App Router · Server Actions · React 19 · TypeScript · Tailwind CSS 3.4 · framer-motion · lucide-react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4261104"/>
            <a:ext cx="1481328" cy="1060704"/>
          </a:xfrm>
          <a:prstGeom prst="roundRect">
            <a:avLst>
              <a:gd name="adj" fmla="val 10000"/>
            </a:avLst>
          </a:prstGeom>
          <a:solidFill>
            <a:srgbClr val="F0C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Identity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Runtime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261104"/>
            <a:ext cx="1856231" cy="1060704"/>
          </a:xfrm>
          <a:prstGeom prst="roundRect">
            <a:avLst>
              <a:gd name="adj" fmla="val 7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Clerk role-based auth · Bun runtime · Vercel deployment · @svg-maps/india · canvas-confetti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5449824"/>
            <a:ext cx="1481328" cy="1060704"/>
          </a:xfrm>
          <a:prstGeom prst="roundRect">
            <a:avLst>
              <a:gd name="adj" fmla="val 10000"/>
            </a:avLst>
          </a:prstGeom>
          <a:solidFill>
            <a:srgbClr val="FA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Data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779"/>
                </a:solidFill>
                <a:latin typeface="Calibri"/>
              </a:rPr>
              <a:t>Integrity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5449824"/>
            <a:ext cx="1856231" cy="1060704"/>
          </a:xfrm>
          <a:prstGeom prst="roundRect">
            <a:avLst>
              <a:gd name="adj" fmla="val 7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Supabase PostgreSQL · Cloudinary evidence store · tamper-sealed signing · public audit trail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